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4" r:id="rId5"/>
    <p:sldId id="263" r:id="rId6"/>
    <p:sldId id="262" r:id="rId7"/>
    <p:sldId id="261" r:id="rId8"/>
    <p:sldId id="267" r:id="rId9"/>
    <p:sldId id="268" r:id="rId10"/>
    <p:sldId id="260" r:id="rId11"/>
    <p:sldId id="269" r:id="rId12"/>
    <p:sldId id="259" r:id="rId13"/>
    <p:sldId id="258" r:id="rId14"/>
    <p:sldId id="271" r:id="rId15"/>
    <p:sldId id="272" r:id="rId16"/>
    <p:sldId id="265" r:id="rId17"/>
    <p:sldId id="26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585208-6f83-4c28-ae9b-e184756447c8}">
          <p14:sldIdLst>
            <p14:sldId id="256"/>
            <p14:sldId id="257"/>
            <p14:sldId id="264"/>
            <p14:sldId id="263"/>
            <p14:sldId id="262"/>
            <p14:sldId id="261"/>
            <p14:sldId id="267"/>
            <p14:sldId id="268"/>
            <p14:sldId id="260"/>
            <p14:sldId id="269"/>
            <p14:sldId id="259"/>
            <p14:sldId id="258"/>
            <p14:sldId id="271"/>
            <p14:sldId id="272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696210"/>
          </a:xfrm>
        </p:spPr>
        <p:txBody>
          <a:bodyPr>
            <a:normAutofit/>
          </a:bodyPr>
          <a:lstStyle/>
          <a:p>
            <a:r>
              <a:rPr lang="en-GB" altLang="en-US" b="1" dirty="0"/>
              <a:t>Enhancing Fraud Detection Using Synthetic Transactions Generated by GenAI </a:t>
            </a:r>
            <a:endParaRPr lang="en-GB" alt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220210"/>
            <a:ext cx="9144000" cy="1314450"/>
          </a:xfrm>
        </p:spPr>
        <p:txBody>
          <a:bodyPr/>
          <a:lstStyle/>
          <a:p>
            <a:pPr algn="ctr"/>
            <a:endParaRPr lang="en-GB" altLang="en-US"/>
          </a:p>
          <a:p>
            <a:pPr algn="ctr"/>
            <a:r>
              <a:rPr lang="en-GB" altLang="en-US" sz="2800"/>
              <a:t>Submitted By: Sahil Adlakha</a:t>
            </a:r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Objectives of Project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>
              <a:lnSpc>
                <a:spcPct val="110000"/>
              </a:lnSpc>
            </a:pPr>
            <a:r>
              <a:rPr lang="en-GB" altLang="en-US" sz="2800"/>
              <a:t>To improve fraud detection 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To solve class imbalance by augmenting minority class using GenAI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Preserve data privacy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Improve ML model by generating more samples.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Improve recall without sacrificing precision or introducing bias.</a:t>
            </a:r>
            <a:endParaRPr lang="en-GB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Dataset Details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>
              <a:lnSpc>
                <a:spcPct val="110000"/>
              </a:lnSpc>
            </a:pPr>
            <a:r>
              <a:rPr lang="en-GB" altLang="en-US" sz="2800" b="1"/>
              <a:t>Dataset:</a:t>
            </a:r>
            <a:r>
              <a:rPr lang="en-GB" altLang="en-US" sz="2800"/>
              <a:t> creditcard.csv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Source:</a:t>
            </a:r>
            <a:r>
              <a:rPr lang="en-GB" altLang="en-US" sz="2800"/>
              <a:t> Kaggle - Credit Card Fraud Dataset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Size: </a:t>
            </a:r>
            <a:r>
              <a:rPr lang="en-GB" altLang="en-US" sz="2800"/>
              <a:t>284,807 rows x 31 cols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Target Variable:</a:t>
            </a:r>
            <a:r>
              <a:rPr lang="en-GB" altLang="en-US" sz="2800"/>
              <a:t> Class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Class Distribution: </a:t>
            </a:r>
            <a:endParaRPr lang="en-GB" altLang="en-US" sz="2800" b="1"/>
          </a:p>
          <a:p>
            <a:pPr lvl="2">
              <a:lnSpc>
                <a:spcPct val="110000"/>
              </a:lnSpc>
            </a:pPr>
            <a:r>
              <a:rPr lang="en-GB" altLang="en-US"/>
              <a:t>Non-Fraud: 284,315</a:t>
            </a:r>
            <a:endParaRPr lang="en-GB" altLang="en-US"/>
          </a:p>
          <a:p>
            <a:pPr lvl="2">
              <a:lnSpc>
                <a:spcPct val="110000"/>
              </a:lnSpc>
            </a:pPr>
            <a:r>
              <a:rPr lang="en-GB" altLang="en-US"/>
              <a:t>Fraud: 492</a:t>
            </a:r>
            <a:endParaRPr lang="en-GB" altLang="en-US" sz="2000"/>
          </a:p>
          <a:p>
            <a:pPr marL="914400" lvl="2" indent="457200">
              <a:buNone/>
            </a:pPr>
            <a:endParaRPr lang="en-GB" altLang="en-US" sz="20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Technical Architecture</a:t>
            </a:r>
            <a:endParaRPr lang="en-GB" altLang="en-US" b="1"/>
          </a:p>
        </p:txBody>
      </p:sp>
      <p:pic>
        <p:nvPicPr>
          <p:cNvPr id="4" name="Picture 3"/>
          <p:cNvPicPr/>
          <p:nvPr/>
        </p:nvPicPr>
        <p:blipFill>
          <a:blip r:embed="rId1"/>
          <a:stretch>
            <a:fillRect/>
          </a:stretch>
        </p:blipFill>
        <p:spPr>
          <a:xfrm>
            <a:off x="3619500" y="1596390"/>
            <a:ext cx="4572000" cy="48298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File Structure</a:t>
            </a:r>
            <a:endParaRPr lang="en-GB" altLang="en-US" b="1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69665" y="1417955"/>
            <a:ext cx="4609465" cy="5153025"/>
          </a:xfrm>
          <a:prstGeom prst="rect">
            <a:avLst/>
          </a:prstGeom>
          <a:ln w="6350"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EDA Insights</a:t>
            </a:r>
            <a:endParaRPr lang="en-GB" altLang="en-US" b="1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 anchor="ctr" anchorCtr="0"/>
          <a:p>
            <a:pPr marL="0" indent="0">
              <a:lnSpc>
                <a:spcPct val="110000"/>
              </a:lnSpc>
              <a:buNone/>
            </a:pPr>
            <a:r>
              <a:rPr lang="en-GB" altLang="en-US" sz="2800">
                <a:cs typeface="+mn-lt"/>
              </a:rPr>
              <a:t>From the given distribution it is clearly visible that the given dataset is highly imbalanced as the no. of fraud cases are way less than non-fraud ones.</a:t>
            </a:r>
            <a:endParaRPr lang="en-GB" altLang="en-US" sz="2800">
              <a:cs typeface="+mn-lt"/>
            </a:endParaRPr>
          </a:p>
        </p:txBody>
      </p:sp>
      <p:pic>
        <p:nvPicPr>
          <p:cNvPr id="8" name="Content Placeholder 7" descr="Screenshot 2025-09-05 13464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913130" y="2383155"/>
            <a:ext cx="4929505" cy="305943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EDA Insights</a:t>
            </a:r>
            <a:endParaRPr lang="en-GB" altLang="en-US" b="1"/>
          </a:p>
        </p:txBody>
      </p:sp>
      <p:pic>
        <p:nvPicPr>
          <p:cNvPr id="5" name="Content Placeholder 4" descr="Screenshot 2025-09-05 140415"/>
          <p:cNvPicPr>
            <a:picLocks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774065" y="1690370"/>
            <a:ext cx="5245735" cy="44875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Content Placeholder 5" descr="Screenshot 2025-09-05 140308"/>
          <p:cNvPicPr>
            <a:picLocks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7770" y="1691640"/>
            <a:ext cx="5151120" cy="44856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Data Preprocessing</a:t>
            </a:r>
            <a:endParaRPr lang="en-GB" altLang="en-US" b="1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311015"/>
          </a:xfrm>
        </p:spPr>
        <p:txBody>
          <a:bodyPr anchor="ctr" anchorCtr="0"/>
          <a:p>
            <a:pPr marL="0" indent="0">
              <a:buNone/>
            </a:pPr>
            <a:endParaRPr lang="en-GB" altLang="en-US"/>
          </a:p>
          <a:p>
            <a:pPr>
              <a:lnSpc>
                <a:spcPct val="110000"/>
              </a:lnSpc>
            </a:pPr>
            <a:r>
              <a:rPr lang="en-GB" altLang="en-US" sz="2800"/>
              <a:t>Normalized the Time and Amount features of the dataset.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Standardized the values of Time and Amount using Standard Scaler which sets mean to 0 and standard deviation to 1.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And saved the preprocessed dataset as new CSV file for further use.</a:t>
            </a:r>
            <a:endParaRPr lang="en-GB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Sample Generation By CTGAN Model</a:t>
            </a:r>
            <a:endParaRPr lang="en-GB" altLang="en-US" b="1"/>
          </a:p>
        </p:txBody>
      </p:sp>
      <p:sp>
        <p:nvSpPr>
          <p:cNvPr id="5" name="Content Placeholder 4"/>
          <p:cNvSpPr/>
          <p:nvPr>
            <p:ph idx="1"/>
          </p:nvPr>
        </p:nvSpPr>
        <p:spPr/>
        <p:txBody>
          <a:bodyPr/>
          <a:p>
            <a:pPr marL="0" indent="0">
              <a:lnSpc>
                <a:spcPct val="110000"/>
              </a:lnSpc>
              <a:buNone/>
            </a:pPr>
            <a:r>
              <a:rPr lang="en-GB" altLang="en-US" sz="2800"/>
              <a:t>To counter the problem of class imbalance, Conditional Tabular GAN model is used to generate synthetic samples of fraud class to augment them to preprocessed dataset.</a:t>
            </a:r>
            <a:endParaRPr lang="en-GB" altLang="en-US" sz="2800"/>
          </a:p>
          <a:p>
            <a:endParaRPr lang="en-GB" altLang="en-US" sz="2800"/>
          </a:p>
          <a:p>
            <a:endParaRPr lang="en-GB" altLang="en-US"/>
          </a:p>
          <a:p>
            <a:endParaRPr lang="en-GB" altLang="en-US"/>
          </a:p>
        </p:txBody>
      </p:sp>
      <p:graphicFrame>
        <p:nvGraphicFramePr>
          <p:cNvPr id="7" name="Table 6"/>
          <p:cNvGraphicFramePr/>
          <p:nvPr>
            <p:custDataLst>
              <p:tags r:id="rId1"/>
            </p:custDataLst>
          </p:nvPr>
        </p:nvGraphicFramePr>
        <p:xfrm>
          <a:off x="1424305" y="3429000"/>
          <a:ext cx="8533130" cy="2748915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3180715"/>
                <a:gridCol w="5352415"/>
              </a:tblGrid>
              <a:tr h="5226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Feature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 b="1"/>
                        <a:t>Description</a:t>
                      </a:r>
                      <a:endParaRPr lang="en-GB" altLang="en-US" sz="2000" b="1"/>
                    </a:p>
                  </a:txBody>
                  <a:tcPr anchor="ctr" anchorCtr="0"/>
                </a:tc>
              </a:tr>
              <a:tr h="5226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GB" altLang="en-US" sz="2000"/>
                        <a:t>Model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 b="0"/>
                        <a:t> CTGAN </a:t>
                      </a:r>
                      <a:endParaRPr lang="en-GB" altLang="en-US" sz="2000" b="0"/>
                    </a:p>
                  </a:txBody>
                  <a:tcPr anchor="ctr" anchorCtr="0"/>
                </a:tc>
              </a:tr>
              <a:tr h="5676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Training Epochs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50</a:t>
                      </a:r>
                      <a:endParaRPr lang="en-GB" altLang="en-US" sz="2000"/>
                    </a:p>
                  </a:txBody>
                  <a:tcPr anchor="ctr" anchorCtr="0"/>
                </a:tc>
              </a:tr>
              <a:tr h="5683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Target Variable 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Class = 1(Fraud)</a:t>
                      </a:r>
                      <a:endParaRPr lang="en-GB" altLang="en-US" sz="2000"/>
                    </a:p>
                  </a:txBody>
                  <a:tcPr anchor="ctr" anchorCtr="0"/>
                </a:tc>
              </a:tr>
              <a:tr h="5676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Output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5,000 synthetic fraud samples</a:t>
                      </a:r>
                      <a:endParaRPr lang="en-GB" altLang="en-US" sz="20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Model Training</a:t>
            </a:r>
            <a:endParaRPr lang="en-GB" altLang="en-US" b="1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110000"/>
              </a:lnSpc>
            </a:pPr>
            <a:r>
              <a:rPr lang="en-GB" altLang="en-US" sz="2800" b="1"/>
              <a:t>Algorithms Used: </a:t>
            </a:r>
            <a:endParaRPr lang="en-GB" altLang="en-US" sz="2800" b="1"/>
          </a:p>
          <a:p>
            <a:pPr lvl="2">
              <a:lnSpc>
                <a:spcPct val="110000"/>
              </a:lnSpc>
            </a:pPr>
            <a:r>
              <a:rPr lang="en-GB" altLang="en-US"/>
              <a:t>Logistic Regression</a:t>
            </a:r>
            <a:endParaRPr lang="en-GB" altLang="en-US"/>
          </a:p>
          <a:p>
            <a:pPr lvl="2">
              <a:lnSpc>
                <a:spcPct val="110000"/>
              </a:lnSpc>
            </a:pPr>
            <a:r>
              <a:rPr lang="en-GB" altLang="en-US"/>
              <a:t>Random Forest</a:t>
            </a:r>
            <a:endParaRPr lang="en-GB" altLang="en-US"/>
          </a:p>
          <a:p>
            <a:pPr lvl="2">
              <a:lnSpc>
                <a:spcPct val="110000"/>
              </a:lnSpc>
            </a:pPr>
            <a:r>
              <a:rPr lang="en-GB" altLang="en-US"/>
              <a:t>XGBoost</a:t>
            </a:r>
            <a:endParaRPr lang="en-GB" altLang="en-US" b="1"/>
          </a:p>
          <a:p>
            <a:pPr>
              <a:lnSpc>
                <a:spcPct val="110000"/>
              </a:lnSpc>
            </a:pPr>
            <a:r>
              <a:rPr lang="en-GB" altLang="en-US" sz="2800" b="1"/>
              <a:t>Dataset: </a:t>
            </a:r>
            <a:r>
              <a:rPr lang="en-GB" altLang="en-US" sz="2800"/>
              <a:t>Augmented (Original + Synthetic)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Type of Problem: </a:t>
            </a:r>
            <a:r>
              <a:rPr lang="en-GB" altLang="en-US" sz="2800"/>
              <a:t>Fraud Classification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Train-Test Ratio: </a:t>
            </a:r>
            <a:r>
              <a:rPr lang="en-GB" altLang="en-US" sz="2800"/>
              <a:t>70:30</a:t>
            </a:r>
            <a:endParaRPr lang="en-GB" altLang="en-US" sz="2800" b="1"/>
          </a:p>
          <a:p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Model Training Results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>
              <a:lnSpc>
                <a:spcPct val="110000"/>
              </a:lnSpc>
            </a:pPr>
            <a:r>
              <a:rPr lang="en-GB" altLang="en-US" sz="2800" b="1"/>
              <a:t>Best Model: </a:t>
            </a:r>
            <a:r>
              <a:rPr lang="en-GB" altLang="en-US" sz="2800"/>
              <a:t>XGBoost Classifier   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 b="1"/>
              <a:t>Recall: </a:t>
            </a:r>
            <a:r>
              <a:rPr lang="en-GB" altLang="en-US" sz="2800"/>
              <a:t>0.783</a:t>
            </a:r>
            <a:endParaRPr lang="en-GB" altLang="en-US" sz="2800" b="1"/>
          </a:p>
          <a:p>
            <a:pPr>
              <a:lnSpc>
                <a:spcPct val="110000"/>
              </a:lnSpc>
            </a:pPr>
            <a:r>
              <a:rPr lang="en-GB" altLang="en-US" sz="2800" b="1"/>
              <a:t>Precision: </a:t>
            </a:r>
            <a:r>
              <a:rPr lang="en-GB" altLang="en-US" sz="2800"/>
              <a:t>0.978</a:t>
            </a:r>
            <a:endParaRPr lang="en-GB" altLang="en-US" sz="2800" b="1"/>
          </a:p>
          <a:p>
            <a:pPr>
              <a:lnSpc>
                <a:spcPct val="110000"/>
              </a:lnSpc>
            </a:pPr>
            <a:r>
              <a:rPr lang="en-GB" altLang="en-US" sz="2800" b="1"/>
              <a:t>F1-Score: </a:t>
            </a:r>
            <a:r>
              <a:rPr lang="en-GB" altLang="en-US" sz="2800"/>
              <a:t>0.87</a:t>
            </a:r>
            <a:endParaRPr lang="en-GB" altLang="en-US" sz="2800" b="1"/>
          </a:p>
          <a:p>
            <a:pPr>
              <a:lnSpc>
                <a:spcPct val="110000"/>
              </a:lnSpc>
            </a:pPr>
            <a:r>
              <a:rPr lang="en-GB" altLang="en-US" sz="2800" b="1"/>
              <a:t>ROC-AUC: </a:t>
            </a:r>
            <a:r>
              <a:rPr lang="en-GB" altLang="en-US" sz="2800"/>
              <a:t>0.992</a:t>
            </a:r>
            <a:endParaRPr lang="en-GB" altLang="en-US" sz="2800"/>
          </a:p>
          <a:p>
            <a:endParaRPr lang="en-GB" altLang="en-US" sz="280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5400" y="1824990"/>
            <a:ext cx="4862195" cy="386461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Performance Analysis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10000"/>
              </a:lnSpc>
            </a:pPr>
            <a:r>
              <a:rPr lang="en-GB" altLang="en-US" sz="2800"/>
              <a:t>This is the detailed comparison of performance of XGBoost Classifier for real dataset and augmenetd dataset after preprocessing.</a:t>
            </a:r>
            <a:endParaRPr lang="en-GB" altLang="en-US" sz="2800"/>
          </a:p>
          <a:p>
            <a:endParaRPr lang="en-GB" altLang="en-US"/>
          </a:p>
          <a:p>
            <a:endParaRPr lang="en-GB" altLang="en-US"/>
          </a:p>
        </p:txBody>
      </p:sp>
      <p:graphicFrame>
        <p:nvGraphicFramePr>
          <p:cNvPr id="4" name="Table 3"/>
          <p:cNvGraphicFramePr/>
          <p:nvPr>
            <p:custDataLst>
              <p:tags r:id="rId1"/>
            </p:custDataLst>
          </p:nvPr>
        </p:nvGraphicFramePr>
        <p:xfrm>
          <a:off x="1295400" y="3263900"/>
          <a:ext cx="9585325" cy="2623185"/>
        </p:xfrm>
        <a:graphic>
          <a:graphicData uri="http://schemas.openxmlformats.org/drawingml/2006/table">
            <a:tbl>
              <a:tblPr firstRow="1">
                <a:tableStyleId>{D7AC3CCA-C797-4891-BE02-D94E43425B78}</a:tableStyleId>
              </a:tblPr>
              <a:tblGrid>
                <a:gridCol w="1917065"/>
                <a:gridCol w="1917065"/>
                <a:gridCol w="1917065"/>
                <a:gridCol w="1917065"/>
                <a:gridCol w="1917065"/>
              </a:tblGrid>
              <a:tr h="87439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Model Dataset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F1-Score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Recall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Precision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ROC-AUC</a:t>
                      </a:r>
                      <a:endParaRPr lang="en-GB" altLang="en-US" sz="2000"/>
                    </a:p>
                  </a:txBody>
                  <a:tcPr anchor="ctr" anchorCtr="0"/>
                </a:tc>
              </a:tr>
              <a:tr h="8743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Real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0.838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0.756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0.94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0.928</a:t>
                      </a:r>
                      <a:endParaRPr lang="en-GB" altLang="en-US" sz="2000"/>
                    </a:p>
                  </a:txBody>
                  <a:tcPr anchor="ctr" anchorCtr="0"/>
                </a:tc>
              </a:tr>
              <a:tr h="8743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GB" altLang="en-US" sz="2000"/>
                        <a:t>Real + Synthetic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0.87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0.783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0.978</a:t>
                      </a:r>
                      <a:endParaRPr lang="en-GB" altLang="en-US" sz="2000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GB" altLang="en-US" sz="2000"/>
                        <a:t>0.992</a:t>
                      </a:r>
                      <a:endParaRPr lang="en-GB" altLang="en-US" sz="2000"/>
                    </a:p>
                  </a:txBody>
                  <a:tcPr anchor="ctr" anchorCtr="0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Model Deployment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>
              <a:lnSpc>
                <a:spcPct val="100000"/>
              </a:lnSpc>
            </a:pPr>
            <a:r>
              <a:rPr lang="en-GB" altLang="en-US" sz="2800" b="1"/>
              <a:t>Deployment Platform: </a:t>
            </a:r>
            <a:r>
              <a:rPr lang="en-GB" altLang="en-US" sz="2800"/>
              <a:t>Streamlit</a:t>
            </a:r>
            <a:endParaRPr lang="en-GB" altLang="en-US" sz="2800"/>
          </a:p>
          <a:p>
            <a:pPr>
              <a:lnSpc>
                <a:spcPct val="100000"/>
              </a:lnSpc>
            </a:pPr>
            <a:r>
              <a:rPr lang="en-GB" altLang="en-US" sz="2800" b="1"/>
              <a:t>URL: </a:t>
            </a:r>
            <a:r>
              <a:rPr lang="en-US" altLang="en-GB" sz="2800"/>
              <a:t>https://credit-card-fraud-detection-myapp.streamlit.app/#credit-card-fraud-detection</a:t>
            </a:r>
            <a:endParaRPr lang="en-US" altLang="en-GB" sz="2800"/>
          </a:p>
          <a:p>
            <a:pPr>
              <a:lnSpc>
                <a:spcPct val="100000"/>
              </a:lnSpc>
            </a:pPr>
            <a:r>
              <a:rPr lang="en-GB" altLang="en-US" sz="2800" b="1"/>
              <a:t>Github Repo: </a:t>
            </a:r>
            <a:r>
              <a:rPr lang="en-GB" altLang="en-US" sz="2800"/>
              <a:t>https://github.com/sahiladlakha33/GNCIPL-Internship-Projects</a:t>
            </a:r>
            <a:endParaRPr lang="en-GB" altLang="en-US" sz="2800"/>
          </a:p>
          <a:p>
            <a:pPr>
              <a:lnSpc>
                <a:spcPct val="100000"/>
              </a:lnSpc>
            </a:pPr>
            <a:r>
              <a:rPr lang="en-GB" altLang="en-US" sz="2800" b="1"/>
              <a:t>Github Project Folder Link: </a:t>
            </a:r>
            <a:r>
              <a:rPr lang="en-US" altLang="en-GB" sz="2800"/>
              <a:t>https://github.com/sahiladlakha33/GNCIPL-Internship-Projects/tree/main/Week%206%20Major%20Project</a:t>
            </a:r>
            <a:endParaRPr lang="en-US" altLang="en-GB" sz="2800"/>
          </a:p>
          <a:p>
            <a:endParaRPr lang="en-US" altLang="en-GB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Business Impact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>
              <a:lnSpc>
                <a:spcPct val="110000"/>
              </a:lnSpc>
            </a:pPr>
            <a:r>
              <a:rPr lang="en-GB" altLang="en-US" sz="2800"/>
              <a:t>Higher catch rate of rare fraud events.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Improved performance of model.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Reduced fraud leakage through better model generalization.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Synthetic generation avoids using real customer data.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Training data can be increased artificially as needed.</a:t>
            </a:r>
            <a:endParaRPr lang="en-GB" altLang="en-US"/>
          </a:p>
          <a:p>
            <a:endParaRPr lang="en-GB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GB" altLang="en-US" b="1"/>
              <a:t>Conclusion</a:t>
            </a:r>
            <a:endParaRPr lang="en-GB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 anchorCtr="0"/>
          <a:p>
            <a:pPr>
              <a:lnSpc>
                <a:spcPct val="110000"/>
              </a:lnSpc>
            </a:pPr>
            <a:r>
              <a:rPr lang="en-GB" altLang="en-US" sz="2800"/>
              <a:t>This project demonstrated Generative AI-powered data augmentation for credit card fraud detection. It is a viable approach to handle extreme data imbalance. 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The methodology resulted in increase of 3% more increase in Recall and 7% increase in ROC-AUC score on normalized data.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It ensured data compliance.</a:t>
            </a:r>
            <a:endParaRPr lang="en-GB" altLang="en-US" sz="2800"/>
          </a:p>
          <a:p>
            <a:pPr>
              <a:lnSpc>
                <a:spcPct val="110000"/>
              </a:lnSpc>
            </a:pPr>
            <a:r>
              <a:rPr lang="en-GB" altLang="en-US" sz="2800"/>
              <a:t>It gave overall better classification performance.</a:t>
            </a:r>
            <a:endParaRPr lang="en-GB" altLang="en-US" sz="2800"/>
          </a:p>
          <a:p>
            <a:pPr marL="0" indent="0">
              <a:buNone/>
            </a:pPr>
            <a:endParaRPr lang="en-GB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920751" y="1912938"/>
            <a:ext cx="10515600" cy="2852737"/>
          </a:xfrm>
        </p:spPr>
        <p:txBody>
          <a:bodyPr anchor="ctr" anchorCtr="0"/>
          <a:p>
            <a:r>
              <a:rPr lang="en-GB" altLang="en-US" sz="8800" b="1"/>
              <a:t>THANK YOU</a:t>
            </a:r>
            <a:endParaRPr lang="en-GB" altLang="en-US" sz="8800" b="1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671*216"/>
  <p:tag name="TABLE_ENDDRAG_RECT" val="112*270*671*216"/>
</p:tagLst>
</file>

<file path=ppt/tags/tag2.xml><?xml version="1.0" encoding="utf-8"?>
<p:tagLst xmlns:p="http://schemas.openxmlformats.org/presentationml/2006/main">
  <p:tag name="TABLE_ENDDRAG_ORIGIN_RECT" val="754*206"/>
  <p:tag name="TABLE_ENDDRAG_RECT" val="110*240*754*206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2789</Words>
  <Application>WPS Presentation</Application>
  <PresentationFormat>Widescreen</PresentationFormat>
  <Paragraphs>151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system-ui</vt:lpstr>
      <vt:lpstr>Segoe Print</vt:lpstr>
      <vt:lpstr>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Sahil Adlakha</cp:lastModifiedBy>
  <cp:revision>4</cp:revision>
  <dcterms:created xsi:type="dcterms:W3CDTF">2025-07-23T00:59:00Z</dcterms:created>
  <dcterms:modified xsi:type="dcterms:W3CDTF">2025-09-05T14:44:21Z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83BADA73D82B467BA864FEDC533E5803_11</vt:lpwstr>
  </property>
  <property fmtid="{D5CDD505-2E9C-101B-9397-08002B2CF9AE}" pid="3" name="KSOProductBuildVer">
    <vt:lpwstr>2057-12.2.0.22549</vt:lpwstr>
  </property>
</Properties>
</file>